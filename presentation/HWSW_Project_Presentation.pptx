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Benchmark Optimization, Analysis,</a:t>
            </a:r>
            <a:br/>
            <a:r>
              <a:t>and Hardware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EDCF5"/>
                </a:solidFill>
              </a:defRPr>
            </a:pPr>
            <a:r>
              <a:t>pyperformance N-body and Pyflate | Course QEMU measurements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Software correctness, profiling, optimization, and synthesizable RTL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Method and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Two approved workloads: N-body and Pyflate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Understand algorithms and data structures before changing code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Measure with rigorous pyperf on one pinned QEMU vCPU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Locate hotspots with Linux perf and flame graphs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Require identical output/state and at least 7% improvement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Propose explicit ready/valid hardware interfaces and software fallback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Experimental environment and 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Ubuntu 5.15.0-1106-kvm under KVM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1 vCPU: Intel Xeon E5-2630 v3 at 2.40 GHz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CPython 3.10.12; pyperformance 1.14.0; pyperf 2.10.0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N-body: complete positions, velocities, and energy matched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Pyflate: 399,360 output bytes matched byte-for-byte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Pyflate MD5: afa004a630fe072901b1d9628b960974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Both SystemVerilog self-checking simulations passed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N-body: workload and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Five solar-system bodies; ten unordered interaction pairs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20,000 dependent time steps per benchmark operation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Per pair: displacement, inverse distance cubed, two velocity updates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Per step: integrate all five positions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Complexity: O(T*N^2); N is fixed, so CPython overhead dominates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Baseline storage: nested Python lists/tuples and boxed float objects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N-body baseline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</a:defRPr>
            </a:pPr>
            <a:r>
              <a:t>29,396 CPU-clock samples; zero lost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5</a:t>
            </a:r>
          </a:p>
        </p:txBody>
      </p:sp>
      <p:pic>
        <p:nvPicPr>
          <p:cNvPr id="5" name="Picture 4" descr="nbody_baseline_fl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858000" cy="2057400"/>
          </a:xfrm>
          <a:prstGeom prst="rect">
            <a:avLst/>
          </a:prstGeom>
          <a:ln w="12700">
            <a:solidFill>
              <a:srgbClr val="BEC6D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26679" y="123444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43.54% CPython frame evaluation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7.09% float creation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5.49% generic binary dispatch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3.46% float multiplication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2.88% list assignment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Only 2.03% in inverse-distance pow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N-body software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Store positions, velocities, and masses in dense NumPy float64 arrays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Compile the complete pair and integration loops with Numba nopython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Warm compilation before timing; measure cold start separately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Keep pair order, update order, float64, and fast-math disabled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Return an energy checksum so the computation remains observable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Result: remove interpreter dispatch and expose the true math hotspot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N-body result: 23.13x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62E"/>
                </a:solidFill>
              </a:defRPr>
            </a:pPr>
            <a:r>
              <a:t>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554480"/>
            <a:ext cx="7132320" cy="438912"/>
          </a:xfrm>
          <a:prstGeom prst="roundRect">
            <a:avLst/>
          </a:prstGeom>
          <a:solidFill>
            <a:srgbClr val="D9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15544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D95F0E"/>
                </a:solidFill>
              </a:defRPr>
            </a:pPr>
            <a:r>
              <a:t>230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62E"/>
                </a:solidFill>
              </a:defRPr>
            </a:pPr>
            <a:r>
              <a:t>Optimized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31720"/>
            <a:ext cx="308116" cy="438912"/>
          </a:xfrm>
          <a:prstGeom prst="round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12680" y="233172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B9E77"/>
                </a:solidFill>
              </a:defRPr>
            </a:pPr>
            <a:r>
              <a:t>9.94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95.68% time reduction; required threshold: 7%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120 values each; CV 1.60% baseline and 2.52% optimized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Optimized profile: CPython evaluation falls from 43.54% to 0.01%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Power-related functions become about 70.25% of execution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Cold import + compilation: 1.288 s; break-even near six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N-body hardware proposal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8</a:t>
            </a:r>
          </a:p>
        </p:txBody>
      </p:sp>
      <p:pic>
        <p:nvPicPr>
          <p:cNvPr id="4" name="Picture 3" descr="nbody_accel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1725168"/>
          </a:xfrm>
          <a:prstGeom prst="rect">
            <a:avLst/>
          </a:prstGeom>
          <a:ln w="12700">
            <a:solidFill>
              <a:srgbClr val="BEC6D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333756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Q16.16 pair-force datapath; Q2.30 host-provided inverse distance cubed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One-cycle ready/valid reference; equal-and-opposite saturated outputs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Standalone PCIe offload is not viable for only ten dependent pairs/step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Production design must add reciprocal square root, accumulation, and multi-step residency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At P=70.25% and S=20, ideal Amdahl bound is about 3.0x before transfer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Pyflate: workload and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Pure-Python BZip2 decode of interpreter.tar.bz2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Bit extraction -&gt; canonical Huffman -&gt; MTF/RLE -&gt; inverse BWT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Baseline reads one byte per method call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Huffman decode linearly scans code objects for every symbol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Bit masks are reconstructed repeatedly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Move-to-front rebuilds lists through slicing and concatenation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Pyflate baseline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</a:defRPr>
            </a:pPr>
            <a:r>
              <a:t>47,455 CPU-clock samples; zero lost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10</a:t>
            </a:r>
          </a:p>
        </p:txBody>
      </p:sp>
      <p:pic>
        <p:nvPicPr>
          <p:cNvPr id="5" name="Picture 4" descr="pyflate_baseline_fl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858000" cy="2057400"/>
          </a:xfrm>
          <a:prstGeom prst="rect">
            <a:avLst/>
          </a:prstGeom>
          <a:ln w="12700">
            <a:solidFill>
              <a:srgbClr val="BEC6D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26679" y="123444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23.31% CPython frame evaluation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4.09% allocator address checks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2.88% allocation-size reads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2.54% list deallocation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2.14% list slicing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1.14% list concatenation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Pyflate software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Read compressed input once into a contiguous bytes buffer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Index bytes directly and cache masks for widths 0 through 64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Group canonical codes by valid bit length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Use O(1)-average dictionary lookup instead of scanning code objects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Replace move-to-front slicing with in-place pop and insert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Keep block parsing, Huffman semantics, MTF/BWT/RLE, and output unchanged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Pyflate result: 1.43x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62E"/>
                </a:solidFill>
              </a:defRPr>
            </a:pPr>
            <a:r>
              <a:t>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554480"/>
            <a:ext cx="7132320" cy="438912"/>
          </a:xfrm>
          <a:prstGeom prst="roundRect">
            <a:avLst/>
          </a:prstGeom>
          <a:solidFill>
            <a:srgbClr val="D95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15544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D95F0E"/>
                </a:solidFill>
              </a:defRPr>
            </a:pPr>
            <a:r>
              <a:t>1.121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62E"/>
                </a:solidFill>
              </a:defRPr>
            </a:pPr>
            <a:r>
              <a:t>Optimized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31720"/>
            <a:ext cx="4974079" cy="438912"/>
          </a:xfrm>
          <a:prstGeom prst="round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12680" y="233172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B9E77"/>
                </a:solidFill>
              </a:defRPr>
            </a:pPr>
            <a:r>
              <a:t>0.782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30.26% time reduction; required threshold: 7%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120 values each; CV below 1% for both runs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Total samples fall 27.2%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Absolute CPython evaluation time falls about 22%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List-slice sample count falls about 97%; concatenation is no longer significant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Pyflate hardware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13</a:t>
            </a:r>
          </a:p>
        </p:txBody>
      </p:sp>
      <p:pic>
        <p:nvPicPr>
          <p:cNvPr id="4" name="Picture 3" descr="pyflate_accel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1024128"/>
          </a:xfrm>
          <a:prstGeom prst="rect">
            <a:avLst/>
          </a:prstGeom>
          <a:ln w="12700">
            <a:solidFill>
              <a:srgbClr val="BEC6D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Programmable 1-20 bit canonical-Huffman lookup with explicit errors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32-bit normalized window; symbol and consumed-bit ready/valid output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BZip2 bytes are bit-reversed by the stream packer for transmission order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Production design banks all six BZip2 tables to avoid reprogramming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</a:defRPr>
            </a:pPr>
            <a:r>
              <a:t>Conditional P=0.50, S=10 Amdahl estimate: 1.82x before DMA overhead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Hardware trade-offs and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Batch commands; never pay MMIO/PCIe latency per Python operation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Keep tables and intermediate state resident across many symbols/steps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Q16.16 reduces area/power but needs range checks and numerical validation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Parallel Huffman compare gives throughput but costs comparator area and power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Banked SRAM/prefix tables reduce area at the cost of extra latency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Every unsupported range, malformed table, or error returns to verified software</a:t>
            </a:r>
          </a:p>
          <a:p>
            <a:pPr>
              <a:spcAft>
                <a:spcPts val="1000"/>
              </a:spcAft>
              <a:defRPr sz="1800">
                <a:solidFill>
                  <a:srgbClr val="20262E"/>
                </a:solidFill>
              </a:defRPr>
            </a:pPr>
            <a:r>
              <a:t>100-200 MHz targets are assumptions; no synthesis or power result is claimed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What the measurements taught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N-body: interpreter removal exposes inverse-distance power as the new bottleneck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Pyflate: fewer method calls and temporary lists improve both time and locality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Algorithmic and data-layout changes should precede hardware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Amdahl's law and transfer overhead bound accelerator value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Debug-symbol perf profiles are useful, but unresolved VM/JIT frames must be disclosed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Correctness evidence and raw measurements are as important as headline speedup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848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</a:defRPr>
            </a:pPr>
            <a:r>
              <a:t>HWSW project | N-body and Pyflate |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N-body: 23.13x faster, 95.68% less time, identical validated state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Pyflate: 1.43x faster, 30.26% less time, byte-identical output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Both exceed the required 7% improvement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Both RTL designs pass self-checking simulation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Hardware proposals define interfaces, fallback, and realistic limitations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</a:defRPr>
            </a:pPr>
            <a:r>
              <a:t>All scripts, raw JSON, perf reports, flame graphs, RTL, and prompts are reproducible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